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yKJtFzE1Q4D0lbFQRdlJnWX9I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B0BDD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B0BDD8"/>
                </a:solidFill>
                <a:latin typeface="Arial"/>
              </a:rPr>
              <a:t>WCSS vs Number of Clusters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Inertia</c:v>
                </c:pt>
              </c:strCache>
            </c:strRef>
          </c:tx>
          <c:spPr>
            <a:solidFill>
              <a:srgbClr val="00C9FF"/>
            </a:solidFill>
            <a:ln w="38100" cap="flat">
              <a:solidFill>
                <a:srgbClr val="00C9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C9FF"/>
              </a:solidFill>
              <a:ln w="9525" cap="flat">
                <a:solidFill>
                  <a:srgbClr val="00C9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K=1</c:v>
                  </c:pt>
                  <c:pt idx="1">
                    <c:v>K=2</c:v>
                  </c:pt>
                  <c:pt idx="2">
                    <c:v>K=3</c:v>
                  </c:pt>
                  <c:pt idx="3">
                    <c:v>K=4</c:v>
                  </c:pt>
                  <c:pt idx="4">
                    <c:v>K=5</c:v>
                  </c:pt>
                  <c:pt idx="5">
                    <c:v>K=6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18500</c:v>
                </c:pt>
                <c:pt idx="1">
                  <c:v>11200</c:v>
                </c:pt>
                <c:pt idx="2">
                  <c:v>7800</c:v>
                </c:pt>
                <c:pt idx="3">
                  <c:v>6900</c:v>
                </c:pt>
                <c:pt idx="4">
                  <c:v>6400</c:v>
                </c:pt>
                <c:pt idx="5">
                  <c:v>6200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D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76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D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41A4A"/>
        </a:solidFill>
        <a:ln>
          <a:noFill/>
        </a:ln>
        <a:effectLst/>
      </c:spPr>
    </c:plotArea>
    <c:plotVisOnly val="1"/>
    <c:dispBlanksAs val="span"/>
  </c:chart>
  <c:spPr>
    <a:solidFill>
      <a:srgbClr val="141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6" name="Google Shape;4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326880" y="-1371600"/>
            <a:ext cx="4114800" cy="4114800"/>
          </a:xfrm>
          <a:prstGeom prst="ellipse">
            <a:avLst/>
          </a:prstGeom>
          <a:solidFill>
            <a:srgbClr val="00C9FF">
              <a:alpha val="12156"/>
            </a:srgbClr>
          </a:solidFill>
          <a:ln cap="flat" cmpd="sng" w="12700">
            <a:solidFill>
              <a:srgbClr val="00C9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875520" y="-731520"/>
            <a:ext cx="2926080" cy="2926080"/>
          </a:xfrm>
          <a:prstGeom prst="ellipse">
            <a:avLst/>
          </a:prstGeom>
          <a:solidFill>
            <a:srgbClr val="00E5CC">
              <a:alpha val="7843"/>
            </a:srgbClr>
          </a:solidFill>
          <a:ln cap="flat" cmpd="sng" w="9525">
            <a:solidFill>
              <a:srgbClr val="00E5C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-1097280" y="4114800"/>
            <a:ext cx="3200400" cy="3200400"/>
          </a:xfrm>
          <a:prstGeom prst="ellipse">
            <a:avLst/>
          </a:prstGeom>
          <a:solidFill>
            <a:srgbClr val="0099CC">
              <a:alpha val="10196"/>
            </a:srgbClr>
          </a:solidFill>
          <a:ln cap="flat" cmpd="sng" w="12700">
            <a:solidFill>
              <a:srgbClr val="0099CC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772400" y="22860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7772400" y="27432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7772400" y="32004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772400" y="36576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229600" y="22860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229600" y="27432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8229600" y="32004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229600" y="36576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8686800" y="22860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8686800" y="27432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686800" y="32004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8686800" y="36576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9144000" y="22860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9144000" y="27432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9144000" y="32004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9144000" y="36576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9601200" y="22860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9601200" y="27432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9601200" y="32004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9601200" y="36576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10058400" y="22860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"/>
          <p:cNvSpPr/>
          <p:nvPr/>
        </p:nvSpPr>
        <p:spPr>
          <a:xfrm>
            <a:off x="10058400" y="27432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0058400" y="32004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10058400" y="3657600"/>
            <a:ext cx="54864" cy="54864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548640" y="914400"/>
            <a:ext cx="2286000" cy="274320"/>
          </a:xfrm>
          <a:prstGeom prst="rect">
            <a:avLst/>
          </a:prstGeom>
          <a:solidFill>
            <a:srgbClr val="00C9FF">
              <a:alpha val="14901"/>
            </a:srgbClr>
          </a:solidFill>
          <a:ln cap="flat" cmpd="sng" w="9525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548640" y="91440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AI DATA ANALYST INTERNSHIP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548640" y="13716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200"/>
              <a:buFont typeface="Calibri"/>
              <a:buNone/>
            </a:pPr>
            <a:r>
              <a:rPr b="1" i="0" lang="en-US" sz="6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Card</a:t>
            </a:r>
            <a:endParaRPr b="0" i="0" sz="6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548640" y="219456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Customer Segmentation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548640" y="31272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Using K-Means Clustering &amp; Machine Learning Analytics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548640" y="3566160"/>
            <a:ext cx="5029200" cy="27432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"/>
          <p:cNvSpPr/>
          <p:nvPr/>
        </p:nvSpPr>
        <p:spPr>
          <a:xfrm>
            <a:off x="548640" y="3840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Presented by:  </a:t>
            </a: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Alva Rachel Wilfred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548640" y="4160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USN: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4SO22AI009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548640" y="446227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College: 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 Joseph Engineering College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548640" y="476402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Organization:  </a:t>
            </a:r>
            <a:r>
              <a:rPr b="1" i="0" lang="en-US" sz="12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Rooman Technologies Pvt. Ltd.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 Statement &amp; Objectives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47472" y="685800"/>
            <a:ext cx="5394960" cy="28346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47472" y="685800"/>
            <a:ext cx="54864" cy="2834640"/>
          </a:xfrm>
          <a:prstGeom prst="rect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502920" y="74980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❗ PROBLEM STATEMENT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02920" y="1024128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Financial institutions lack a structured way to identify different customer behaviors based on credit card usage.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502920" y="1737360"/>
            <a:ext cx="109728" cy="109728"/>
          </a:xfrm>
          <a:prstGeom prst="ellipse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694944" y="1700784"/>
            <a:ext cx="4846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One-size-fits-all approach leads to poor customer engagement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02920" y="2121408"/>
            <a:ext cx="109728" cy="109728"/>
          </a:xfrm>
          <a:prstGeom prst="ellipse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94944" y="2084832"/>
            <a:ext cx="4846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Ineffective marketing strategies reduce revenue potential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502920" y="2505456"/>
            <a:ext cx="109728" cy="109728"/>
          </a:xfrm>
          <a:prstGeom prst="ellipse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694944" y="2468880"/>
            <a:ext cx="4846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Higher credit risk with no early identification of risky customers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02920" y="2889504"/>
            <a:ext cx="109728" cy="109728"/>
          </a:xfrm>
          <a:prstGeom prst="ellipse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94944" y="2852928"/>
            <a:ext cx="48463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Difficulty identifying high-value customers for retention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925312" y="685800"/>
            <a:ext cx="5897880" cy="28346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5925312" y="685800"/>
            <a:ext cx="54864" cy="283464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6080760" y="74980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🎯 PROJECT OBJECTIVES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6080760" y="1024128"/>
            <a:ext cx="292608" cy="256032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2"/>
          <p:cNvSpPr/>
          <p:nvPr/>
        </p:nvSpPr>
        <p:spPr>
          <a:xfrm>
            <a:off x="6080760" y="102412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473952" y="100584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Analyze customer financial behavior patterns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"/>
          <p:cNvSpPr/>
          <p:nvPr/>
        </p:nvSpPr>
        <p:spPr>
          <a:xfrm>
            <a:off x="6080760" y="1481328"/>
            <a:ext cx="292608" cy="256032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080760" y="148132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6473952" y="146304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Apply K-Means clustering to identify segments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080760" y="1938528"/>
            <a:ext cx="292608" cy="256032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6080760" y="193852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473952" y="192024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Generate business insights for marketing &amp; risk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080760" y="2395728"/>
            <a:ext cx="292608" cy="256032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6080760" y="239572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473952" y="237744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Build interactive Streamlit dashboard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080760" y="2852928"/>
            <a:ext cx="292608" cy="256032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080760" y="2852928"/>
            <a:ext cx="2926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E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E2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6473952" y="2834640"/>
            <a:ext cx="5029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Enable data-driven decision making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347472" y="3703320"/>
            <a:ext cx="2784348" cy="7772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"/>
          <p:cNvSpPr/>
          <p:nvPr/>
        </p:nvSpPr>
        <p:spPr>
          <a:xfrm>
            <a:off x="347472" y="3749040"/>
            <a:ext cx="27843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8,950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347472" y="4096512"/>
            <a:ext cx="27843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Customer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3204972" y="3703320"/>
            <a:ext cx="2784348" cy="7772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3204972" y="3749040"/>
            <a:ext cx="27843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3204972" y="4096512"/>
            <a:ext cx="27843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Behavioral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6062472" y="3703320"/>
            <a:ext cx="2784348" cy="7772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6062472" y="3749040"/>
            <a:ext cx="27843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K=3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6062472" y="4096512"/>
            <a:ext cx="27843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Optimal Clusters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8919972" y="3703320"/>
            <a:ext cx="2784348" cy="7772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"/>
          <p:cNvSpPr/>
          <p:nvPr/>
        </p:nvSpPr>
        <p:spPr>
          <a:xfrm>
            <a:off x="8919972" y="3749040"/>
            <a:ext cx="27843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0.2510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8919972" y="4096512"/>
            <a:ext cx="27843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Silhouette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Overview &amp; Technologies Used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347472" y="685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347472" y="960120"/>
            <a:ext cx="2834640" cy="6400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438912" y="103327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804672" y="101498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8,950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04672" y="12801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Customer records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319272" y="960120"/>
            <a:ext cx="2834640" cy="6400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3776472" y="101498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3776472" y="128016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Financial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347472" y="1691640"/>
            <a:ext cx="2834640" cy="6400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438912" y="176479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804672" y="174650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804672" y="20116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Outstanding amount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3319272" y="1691640"/>
            <a:ext cx="2834640" cy="6400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3410712" y="176479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3776472" y="174650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PURCHASES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3776472" y="201168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Total spending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347472" y="2423160"/>
            <a:ext cx="2834640" cy="6400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438912" y="24963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804672" y="24780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CASH_ADVANCE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804672" y="274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Cash withdrawals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3319272" y="2423160"/>
            <a:ext cx="2834640" cy="6400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3410712" y="249631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3776472" y="24780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CREDIT_LIMIT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3776472" y="274320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Approved limit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347472" y="3154680"/>
            <a:ext cx="2834640" cy="6400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438912" y="322783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804672" y="32095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804672" y="34747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Amount paid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3319272" y="3154680"/>
            <a:ext cx="2834640" cy="6400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3410712" y="322783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3776472" y="320954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MIN_PAYMENTS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3776472" y="3474720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Minimum paid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6263640" y="68580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263640" y="960120"/>
            <a:ext cx="5550408" cy="59436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"/>
          <p:cNvSpPr/>
          <p:nvPr/>
        </p:nvSpPr>
        <p:spPr>
          <a:xfrm>
            <a:off x="6263640" y="960120"/>
            <a:ext cx="54864" cy="59436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6949440" y="1024128"/>
            <a:ext cx="466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• Pandas • NumPy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6263640" y="1673352"/>
            <a:ext cx="5550408" cy="59436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6263640" y="1673352"/>
            <a:ext cx="54864" cy="594360"/>
          </a:xfrm>
          <a:prstGeom prst="rect">
            <a:avLst/>
          </a:prstGeom>
          <a:solidFill>
            <a:srgbClr val="00E5CC"/>
          </a:solidFill>
          <a:ln cap="flat" cmpd="sng" w="12700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6400800" y="1700784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6949440" y="1737360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Scikit-learn • K-Means • PCA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6263640" y="2386584"/>
            <a:ext cx="5550408" cy="59436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6263640" y="2386584"/>
            <a:ext cx="54864" cy="59436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3"/>
          <p:cNvSpPr/>
          <p:nvPr/>
        </p:nvSpPr>
        <p:spPr>
          <a:xfrm>
            <a:off x="6400800" y="2414016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949440" y="2450592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Matplotlib • Seaborn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6263640" y="3099816"/>
            <a:ext cx="5550408" cy="59436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"/>
          <p:cNvSpPr/>
          <p:nvPr/>
        </p:nvSpPr>
        <p:spPr>
          <a:xfrm>
            <a:off x="6263640" y="3099816"/>
            <a:ext cx="54864" cy="594360"/>
          </a:xfrm>
          <a:prstGeom prst="rect">
            <a:avLst/>
          </a:prstGeom>
          <a:solidFill>
            <a:srgbClr val="FF9A3C"/>
          </a:solidFill>
          <a:ln cap="flat" cmpd="sng" w="12700">
            <a:solidFill>
              <a:srgbClr val="FF9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6400800" y="3127248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6949440" y="3163824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6263640" y="3813048"/>
            <a:ext cx="5550408" cy="59436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"/>
          <p:cNvSpPr/>
          <p:nvPr/>
        </p:nvSpPr>
        <p:spPr>
          <a:xfrm>
            <a:off x="6263640" y="3813048"/>
            <a:ext cx="54864" cy="594360"/>
          </a:xfrm>
          <a:prstGeom prst="rect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6400800" y="3840480"/>
            <a:ext cx="457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6949440" y="3877056"/>
            <a:ext cx="4663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Statistical Validation (ANOVA)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4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347472" y="777240"/>
            <a:ext cx="3566160" cy="10972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"/>
          <p:cNvSpPr/>
          <p:nvPr/>
        </p:nvSpPr>
        <p:spPr>
          <a:xfrm>
            <a:off x="347472" y="777240"/>
            <a:ext cx="54864" cy="109728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4"/>
          <p:cNvSpPr/>
          <p:nvPr/>
        </p:nvSpPr>
        <p:spPr>
          <a:xfrm>
            <a:off x="457200" y="886968"/>
            <a:ext cx="384048" cy="384048"/>
          </a:xfrm>
          <a:prstGeom prst="rect">
            <a:avLst/>
          </a:prstGeom>
          <a:solidFill>
            <a:srgbClr val="00C9FF">
              <a:alpha val="20000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457200" y="886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914400" y="868680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914400" y="123444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8,950 credit card holder records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3950208" y="1298448"/>
            <a:ext cx="201168" cy="54864"/>
          </a:xfrm>
          <a:prstGeom prst="rect">
            <a:avLst/>
          </a:prstGeom>
          <a:solidFill>
            <a:srgbClr val="00C9FF">
              <a:alpha val="50196"/>
            </a:srgbClr>
          </a:solidFill>
          <a:ln cap="flat" cmpd="sng" w="12700">
            <a:solidFill>
              <a:srgbClr val="00C9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4"/>
          <p:cNvSpPr/>
          <p:nvPr/>
        </p:nvSpPr>
        <p:spPr>
          <a:xfrm>
            <a:off x="4187952" y="777240"/>
            <a:ext cx="3566160" cy="10972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4"/>
          <p:cNvSpPr/>
          <p:nvPr/>
        </p:nvSpPr>
        <p:spPr>
          <a:xfrm>
            <a:off x="4187952" y="777240"/>
            <a:ext cx="54864" cy="1097280"/>
          </a:xfrm>
          <a:prstGeom prst="rect">
            <a:avLst/>
          </a:prstGeom>
          <a:solidFill>
            <a:srgbClr val="00E5CC"/>
          </a:solidFill>
          <a:ln cap="flat" cmpd="sng" w="12700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/>
          <p:nvPr/>
        </p:nvSpPr>
        <p:spPr>
          <a:xfrm>
            <a:off x="4297680" y="886968"/>
            <a:ext cx="384048" cy="384048"/>
          </a:xfrm>
          <a:prstGeom prst="rect">
            <a:avLst/>
          </a:prstGeom>
          <a:solidFill>
            <a:srgbClr val="00E5CC">
              <a:alpha val="20000"/>
            </a:srgbClr>
          </a:solidFill>
          <a:ln cap="flat" cmpd="sng" w="12700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4297680" y="886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4754880" y="868680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4754880" y="123444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Missing values, normalization, cleaning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7790688" y="1298448"/>
            <a:ext cx="201168" cy="54864"/>
          </a:xfrm>
          <a:prstGeom prst="rect">
            <a:avLst/>
          </a:prstGeom>
          <a:solidFill>
            <a:srgbClr val="00E5CC">
              <a:alpha val="50196"/>
            </a:srgbClr>
          </a:solidFill>
          <a:ln cap="flat" cmpd="sng" w="12700">
            <a:solidFill>
              <a:srgbClr val="00E5C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"/>
          <p:cNvSpPr/>
          <p:nvPr/>
        </p:nvSpPr>
        <p:spPr>
          <a:xfrm>
            <a:off x="8028432" y="777240"/>
            <a:ext cx="3566160" cy="10972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8028432" y="777240"/>
            <a:ext cx="54864" cy="109728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8138160" y="886968"/>
            <a:ext cx="384048" cy="384048"/>
          </a:xfrm>
          <a:prstGeom prst="rect">
            <a:avLst/>
          </a:prstGeom>
          <a:solidFill>
            <a:srgbClr val="FFD166">
              <a:alpha val="20000"/>
            </a:srgbClr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8138160" y="8869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8595360" y="868680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8595360" y="123444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Exploratory data analysis &amp; correlation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347472" y="2130552"/>
            <a:ext cx="3566160" cy="10972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347472" y="2130552"/>
            <a:ext cx="54864" cy="1097280"/>
          </a:xfrm>
          <a:prstGeom prst="rect">
            <a:avLst/>
          </a:prstGeom>
          <a:solidFill>
            <a:srgbClr val="FF9A3C"/>
          </a:solidFill>
          <a:ln cap="flat" cmpd="sng" w="12700">
            <a:solidFill>
              <a:srgbClr val="FF9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4"/>
          <p:cNvSpPr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solidFill>
            <a:srgbClr val="FF9A3C">
              <a:alpha val="20000"/>
            </a:srgbClr>
          </a:solidFill>
          <a:ln cap="flat" cmpd="sng" w="12700">
            <a:solidFill>
              <a:srgbClr val="FF9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4"/>
          <p:cNvSpPr/>
          <p:nvPr/>
        </p:nvSpPr>
        <p:spPr>
          <a:xfrm>
            <a:off x="457200" y="2240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A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A3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914400" y="222199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Feature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914400" y="2587752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Utilization, payment, spending ratios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3950208" y="2651760"/>
            <a:ext cx="201168" cy="54864"/>
          </a:xfrm>
          <a:prstGeom prst="rect">
            <a:avLst/>
          </a:prstGeom>
          <a:solidFill>
            <a:srgbClr val="FF9A3C">
              <a:alpha val="50196"/>
            </a:srgbClr>
          </a:solidFill>
          <a:ln cap="flat" cmpd="sng" w="12700">
            <a:solidFill>
              <a:srgbClr val="FF9A3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4187952" y="2130552"/>
            <a:ext cx="3566160" cy="10972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4187952" y="2130552"/>
            <a:ext cx="54864" cy="109728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4297680" y="2240280"/>
            <a:ext cx="384048" cy="384048"/>
          </a:xfrm>
          <a:prstGeom prst="rect">
            <a:avLst/>
          </a:prstGeom>
          <a:solidFill>
            <a:srgbClr val="00C9FF">
              <a:alpha val="20000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4297680" y="2240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4754880" y="222199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K-Means Clustering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4754880" y="2587752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Elbow method, K=3, segmentation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7790688" y="2651760"/>
            <a:ext cx="201168" cy="54864"/>
          </a:xfrm>
          <a:prstGeom prst="rect">
            <a:avLst/>
          </a:prstGeom>
          <a:solidFill>
            <a:srgbClr val="00C9FF">
              <a:alpha val="50196"/>
            </a:srgbClr>
          </a:solidFill>
          <a:ln cap="flat" cmpd="sng" w="12700">
            <a:solidFill>
              <a:srgbClr val="00C9FF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4"/>
          <p:cNvSpPr/>
          <p:nvPr/>
        </p:nvSpPr>
        <p:spPr>
          <a:xfrm>
            <a:off x="8028432" y="2130552"/>
            <a:ext cx="3566160" cy="10972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4"/>
          <p:cNvSpPr/>
          <p:nvPr/>
        </p:nvSpPr>
        <p:spPr>
          <a:xfrm>
            <a:off x="8028432" y="2130552"/>
            <a:ext cx="54864" cy="1097280"/>
          </a:xfrm>
          <a:prstGeom prst="rect">
            <a:avLst/>
          </a:prstGeom>
          <a:solidFill>
            <a:srgbClr val="00E5CC"/>
          </a:solidFill>
          <a:ln cap="flat" cmpd="sng" w="12700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4"/>
          <p:cNvSpPr/>
          <p:nvPr/>
        </p:nvSpPr>
        <p:spPr>
          <a:xfrm>
            <a:off x="8138160" y="2240280"/>
            <a:ext cx="384048" cy="384048"/>
          </a:xfrm>
          <a:prstGeom prst="rect">
            <a:avLst/>
          </a:prstGeom>
          <a:solidFill>
            <a:srgbClr val="00E5CC">
              <a:alpha val="20000"/>
            </a:srgbClr>
          </a:solidFill>
          <a:ln cap="flat" cmpd="sng" w="12700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4"/>
          <p:cNvSpPr/>
          <p:nvPr/>
        </p:nvSpPr>
        <p:spPr>
          <a:xfrm>
            <a:off x="8138160" y="2240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8595360" y="2221992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8595360" y="2587752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Silhouette: 0.2510 | ANOVA p &lt; 0.001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347472" y="3483864"/>
            <a:ext cx="3566160" cy="10972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347472" y="3483864"/>
            <a:ext cx="54864" cy="109728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457200" y="3593592"/>
            <a:ext cx="384048" cy="384048"/>
          </a:xfrm>
          <a:prstGeom prst="rect">
            <a:avLst/>
          </a:prstGeom>
          <a:solidFill>
            <a:srgbClr val="FFD166">
              <a:alpha val="20000"/>
            </a:srgbClr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"/>
          <p:cNvSpPr/>
          <p:nvPr/>
        </p:nvSpPr>
        <p:spPr>
          <a:xfrm>
            <a:off x="457200" y="3593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914400" y="3575304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914400" y="3941064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PCA plot, heatmap, scatter charts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3950208" y="4005072"/>
            <a:ext cx="201168" cy="54864"/>
          </a:xfrm>
          <a:prstGeom prst="rect">
            <a:avLst/>
          </a:prstGeom>
          <a:solidFill>
            <a:srgbClr val="FFD166">
              <a:alpha val="50196"/>
            </a:srgbClr>
          </a:solidFill>
          <a:ln cap="flat" cmpd="sng" w="12700">
            <a:solidFill>
              <a:srgbClr val="FFD166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4"/>
          <p:cNvSpPr/>
          <p:nvPr/>
        </p:nvSpPr>
        <p:spPr>
          <a:xfrm>
            <a:off x="4187952" y="3483864"/>
            <a:ext cx="3566160" cy="10972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4"/>
          <p:cNvSpPr/>
          <p:nvPr/>
        </p:nvSpPr>
        <p:spPr>
          <a:xfrm>
            <a:off x="4187952" y="3483864"/>
            <a:ext cx="54864" cy="1097280"/>
          </a:xfrm>
          <a:prstGeom prst="rect">
            <a:avLst/>
          </a:prstGeom>
          <a:solidFill>
            <a:srgbClr val="FF9A3C"/>
          </a:solidFill>
          <a:ln cap="flat" cmpd="sng" w="12700">
            <a:solidFill>
              <a:srgbClr val="FF9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"/>
          <p:cNvSpPr/>
          <p:nvPr/>
        </p:nvSpPr>
        <p:spPr>
          <a:xfrm>
            <a:off x="4297680" y="3593592"/>
            <a:ext cx="384048" cy="384048"/>
          </a:xfrm>
          <a:prstGeom prst="rect">
            <a:avLst/>
          </a:prstGeom>
          <a:solidFill>
            <a:srgbClr val="FF9A3C">
              <a:alpha val="20000"/>
            </a:srgbClr>
          </a:solidFill>
          <a:ln cap="flat" cmpd="sng" w="12700">
            <a:solidFill>
              <a:srgbClr val="FF9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4297680" y="3593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A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A3C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4754880" y="3575304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4754880" y="3941064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Interactive Streamlit analytics app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7790688" y="4005072"/>
            <a:ext cx="201168" cy="54864"/>
          </a:xfrm>
          <a:prstGeom prst="rect">
            <a:avLst/>
          </a:prstGeom>
          <a:solidFill>
            <a:srgbClr val="FF9A3C">
              <a:alpha val="50196"/>
            </a:srgbClr>
          </a:solidFill>
          <a:ln cap="flat" cmpd="sng" w="12700">
            <a:solidFill>
              <a:srgbClr val="FF9A3C">
                <a:alpha val="5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8028432" y="3483864"/>
            <a:ext cx="3566160" cy="10972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8028432" y="3483864"/>
            <a:ext cx="54864" cy="1097280"/>
          </a:xfrm>
          <a:prstGeom prst="rect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4"/>
          <p:cNvSpPr/>
          <p:nvPr/>
        </p:nvSpPr>
        <p:spPr>
          <a:xfrm>
            <a:off x="8138160" y="3593592"/>
            <a:ext cx="384048" cy="384048"/>
          </a:xfrm>
          <a:prstGeom prst="rect">
            <a:avLst/>
          </a:prstGeom>
          <a:solidFill>
            <a:srgbClr val="FF4E6A">
              <a:alpha val="20000"/>
            </a:srgbClr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4"/>
          <p:cNvSpPr/>
          <p:nvPr/>
        </p:nvSpPr>
        <p:spPr>
          <a:xfrm>
            <a:off x="8138160" y="3593592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8595360" y="3575304"/>
            <a:ext cx="28803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8595360" y="3941064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Targeted strategies per segment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5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Machine Learning Model — K-Means Clustering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347472" y="685800"/>
            <a:ext cx="5394960" cy="393192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5"/>
          <p:cNvSpPr/>
          <p:nvPr/>
        </p:nvSpPr>
        <p:spPr>
          <a:xfrm>
            <a:off x="347472" y="685800"/>
            <a:ext cx="54864" cy="393192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5"/>
          <p:cNvSpPr/>
          <p:nvPr/>
        </p:nvSpPr>
        <p:spPr>
          <a:xfrm>
            <a:off x="502920" y="7498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🤖 K-MEANS CLUSTERING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502920" y="1024128"/>
            <a:ext cx="50749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1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K-Means is an unsupervised clustering algorithm that groups data points into K clusters based on feature similarity by minimizing within-cluster variance.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502920" y="1828800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868680" y="182880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Simple, interpretable, and efficient for large datasets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502920" y="2286000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/>
          <p:nvPr/>
        </p:nvSpPr>
        <p:spPr>
          <a:xfrm>
            <a:off x="868680" y="228600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Works well with multi-feature customer behavioral data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502920" y="2743200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868680" y="274320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Identifies hidden behavioral patterns without labels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/>
          <p:nvPr/>
        </p:nvSpPr>
        <p:spPr>
          <a:xfrm>
            <a:off x="502920" y="3200400"/>
            <a:ext cx="320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868680" y="3200400"/>
            <a:ext cx="4663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Validated by Silhouette Score (0.2510) &amp; ANOVA (p&lt;0.001)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502920" y="3749040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⚙️ FEATURE ENGINEERING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502920" y="4005072"/>
            <a:ext cx="1664208" cy="502920"/>
          </a:xfrm>
          <a:prstGeom prst="rect">
            <a:avLst/>
          </a:prstGeom>
          <a:solidFill>
            <a:srgbClr val="00E5CC">
              <a:alpha val="12156"/>
            </a:srgbClr>
          </a:solidFill>
          <a:ln cap="flat" cmpd="sng" w="9525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502920" y="4023360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Credit Utilization Ratio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502920" y="4224528"/>
            <a:ext cx="16642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Balance / Credit Limit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2267712" y="4005072"/>
            <a:ext cx="1664208" cy="502920"/>
          </a:xfrm>
          <a:prstGeom prst="rect">
            <a:avLst/>
          </a:prstGeom>
          <a:solidFill>
            <a:srgbClr val="00E5CC">
              <a:alpha val="12156"/>
            </a:srgbClr>
          </a:solidFill>
          <a:ln cap="flat" cmpd="sng" w="9525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5"/>
          <p:cNvSpPr/>
          <p:nvPr/>
        </p:nvSpPr>
        <p:spPr>
          <a:xfrm>
            <a:off x="2267712" y="4023360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Payment Ratio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2267712" y="4224528"/>
            <a:ext cx="16642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Payments / Purchases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4032504" y="4005072"/>
            <a:ext cx="1664208" cy="502920"/>
          </a:xfrm>
          <a:prstGeom prst="rect">
            <a:avLst/>
          </a:prstGeom>
          <a:solidFill>
            <a:srgbClr val="00E5CC">
              <a:alpha val="12156"/>
            </a:srgbClr>
          </a:solidFill>
          <a:ln cap="flat" cmpd="sng" w="9525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"/>
          <p:cNvSpPr/>
          <p:nvPr/>
        </p:nvSpPr>
        <p:spPr>
          <a:xfrm>
            <a:off x="4032504" y="4023360"/>
            <a:ext cx="166420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Spending Ratio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4032504" y="4224528"/>
            <a:ext cx="166420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Purchases / Credit Limit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5"/>
          <p:cNvSpPr/>
          <p:nvPr/>
        </p:nvSpPr>
        <p:spPr>
          <a:xfrm>
            <a:off x="5925312" y="685800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📈 MODEL SELECTION — ELBOW METHOD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8" name="Google Shape;258;p5"/>
          <p:cNvGraphicFramePr/>
          <p:nvPr/>
        </p:nvGraphicFramePr>
        <p:xfrm>
          <a:off x="5925312" y="960120"/>
          <a:ext cx="5897880" cy="21945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59" name="Google Shape;259;p5"/>
          <p:cNvSpPr/>
          <p:nvPr/>
        </p:nvSpPr>
        <p:spPr>
          <a:xfrm>
            <a:off x="7717536" y="2286000"/>
            <a:ext cx="73152" cy="822960"/>
          </a:xfrm>
          <a:prstGeom prst="rect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"/>
          <p:cNvSpPr/>
          <p:nvPr/>
        </p:nvSpPr>
        <p:spPr>
          <a:xfrm>
            <a:off x="7818120" y="2286000"/>
            <a:ext cx="822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K = 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Optimal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/>
          <p:nvPr/>
        </p:nvSpPr>
        <p:spPr>
          <a:xfrm>
            <a:off x="5925312" y="3291840"/>
            <a:ext cx="1874520" cy="13258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5925312" y="338328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0.2510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5925312" y="38404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Silhouette Score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5"/>
          <p:cNvSpPr/>
          <p:nvPr/>
        </p:nvSpPr>
        <p:spPr>
          <a:xfrm>
            <a:off x="5925312" y="40690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Cluster cohesion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7909560" y="3291840"/>
            <a:ext cx="1874520" cy="13258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5"/>
          <p:cNvSpPr/>
          <p:nvPr/>
        </p:nvSpPr>
        <p:spPr>
          <a:xfrm>
            <a:off x="7909560" y="338328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p&lt;0.001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7909560" y="38404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ANOVA F-Stat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5"/>
          <p:cNvSpPr/>
          <p:nvPr/>
        </p:nvSpPr>
        <p:spPr>
          <a:xfrm>
            <a:off x="7909560" y="40690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All features distinct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9893808" y="3291840"/>
            <a:ext cx="1874520" cy="132588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5"/>
          <p:cNvSpPr/>
          <p:nvPr/>
        </p:nvSpPr>
        <p:spPr>
          <a:xfrm>
            <a:off x="9893808" y="3383280"/>
            <a:ext cx="1874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K = 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9893808" y="38404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5"/>
          <p:cNvSpPr/>
          <p:nvPr/>
        </p:nvSpPr>
        <p:spPr>
          <a:xfrm>
            <a:off x="9893808" y="4069080"/>
            <a:ext cx="1874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Optimal by Elbow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6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Segments Identified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347472" y="658368"/>
            <a:ext cx="3749040" cy="388620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6"/>
          <p:cNvSpPr/>
          <p:nvPr/>
        </p:nvSpPr>
        <p:spPr>
          <a:xfrm>
            <a:off x="347472" y="658368"/>
            <a:ext cx="3749040" cy="54864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"/>
          <p:cNvSpPr/>
          <p:nvPr/>
        </p:nvSpPr>
        <p:spPr>
          <a:xfrm>
            <a:off x="484632" y="777240"/>
            <a:ext cx="384048" cy="384048"/>
          </a:xfrm>
          <a:prstGeom prst="ellipse">
            <a:avLst/>
          </a:prstGeom>
          <a:solidFill>
            <a:srgbClr val="00C9FF">
              <a:alpha val="30196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6"/>
          <p:cNvSpPr/>
          <p:nvPr/>
        </p:nvSpPr>
        <p:spPr>
          <a:xfrm>
            <a:off x="484632" y="777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6"/>
          <p:cNvSpPr/>
          <p:nvPr/>
        </p:nvSpPr>
        <p:spPr>
          <a:xfrm>
            <a:off x="987552" y="80467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Premium Spenders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6"/>
          <p:cNvSpPr/>
          <p:nvPr/>
        </p:nvSpPr>
        <p:spPr>
          <a:xfrm>
            <a:off x="987552" y="11155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Cluster 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2633472" y="1115568"/>
            <a:ext cx="1280160" cy="201168"/>
          </a:xfrm>
          <a:prstGeom prst="rect">
            <a:avLst/>
          </a:prstGeom>
          <a:solidFill>
            <a:srgbClr val="00C9FF">
              <a:alpha val="20000"/>
            </a:srgbClr>
          </a:solidFill>
          <a:ln cap="flat" cmpd="sng" w="9525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6"/>
          <p:cNvSpPr/>
          <p:nvPr/>
        </p:nvSpPr>
        <p:spPr>
          <a:xfrm>
            <a:off x="2633472" y="111556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LOW RISK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6"/>
          <p:cNvSpPr/>
          <p:nvPr/>
        </p:nvSpPr>
        <p:spPr>
          <a:xfrm>
            <a:off x="438912" y="1417320"/>
            <a:ext cx="3566160" cy="18288"/>
          </a:xfrm>
          <a:prstGeom prst="rect">
            <a:avLst/>
          </a:prstGeom>
          <a:solidFill>
            <a:srgbClr val="6B7BA4">
              <a:alpha val="30196"/>
            </a:srgbClr>
          </a:solidFill>
          <a:ln cap="flat" cmpd="sng" w="12700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6"/>
          <p:cNvSpPr/>
          <p:nvPr/>
        </p:nvSpPr>
        <p:spPr>
          <a:xfrm>
            <a:off x="484632" y="15087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1,275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2084832" y="15087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Customers (14.2%)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484632" y="194767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$4,187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6"/>
          <p:cNvSpPr/>
          <p:nvPr/>
        </p:nvSpPr>
        <p:spPr>
          <a:xfrm>
            <a:off x="2084832" y="19476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Avg Purchases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484632" y="238658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$7,643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2084832" y="23865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Avg Credit Limit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6"/>
          <p:cNvSpPr/>
          <p:nvPr/>
        </p:nvSpPr>
        <p:spPr>
          <a:xfrm>
            <a:off x="484632" y="282549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30%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2084832" y="28254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Full Payment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6"/>
          <p:cNvSpPr/>
          <p:nvPr/>
        </p:nvSpPr>
        <p:spPr>
          <a:xfrm>
            <a:off x="438912" y="3310128"/>
            <a:ext cx="3566160" cy="18288"/>
          </a:xfrm>
          <a:prstGeom prst="rect">
            <a:avLst/>
          </a:prstGeom>
          <a:solidFill>
            <a:srgbClr val="6B7BA4">
              <a:alpha val="30196"/>
            </a:srgbClr>
          </a:solidFill>
          <a:ln cap="flat" cmpd="sng" w="12700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6"/>
          <p:cNvSpPr/>
          <p:nvPr/>
        </p:nvSpPr>
        <p:spPr>
          <a:xfrm>
            <a:off x="484632" y="33832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KEY TRAITS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484632" y="3630168"/>
            <a:ext cx="91440" cy="91440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649224" y="360273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Highest spending &amp; credit limit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484632" y="3950208"/>
            <a:ext cx="91440" cy="91440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649224" y="392277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Consistent payment behavior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484632" y="4270248"/>
            <a:ext cx="91440" cy="91440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6"/>
          <p:cNvSpPr/>
          <p:nvPr/>
        </p:nvSpPr>
        <p:spPr>
          <a:xfrm>
            <a:off x="649224" y="424281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Premium rewards engagement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6"/>
          <p:cNvSpPr/>
          <p:nvPr/>
        </p:nvSpPr>
        <p:spPr>
          <a:xfrm>
            <a:off x="4306824" y="658368"/>
            <a:ext cx="3749040" cy="388620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6"/>
          <p:cNvSpPr/>
          <p:nvPr/>
        </p:nvSpPr>
        <p:spPr>
          <a:xfrm>
            <a:off x="4306824" y="658368"/>
            <a:ext cx="3749040" cy="54864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4443984" y="777240"/>
            <a:ext cx="384048" cy="384048"/>
          </a:xfrm>
          <a:prstGeom prst="ellipse">
            <a:avLst/>
          </a:prstGeom>
          <a:solidFill>
            <a:srgbClr val="FFD166">
              <a:alpha val="30196"/>
            </a:srgbClr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6"/>
          <p:cNvSpPr/>
          <p:nvPr/>
        </p:nvSpPr>
        <p:spPr>
          <a:xfrm>
            <a:off x="4443984" y="777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4946904" y="80467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Engagement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4946904" y="11155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Cluster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6592824" y="1115568"/>
            <a:ext cx="1280160" cy="201168"/>
          </a:xfrm>
          <a:prstGeom prst="rect">
            <a:avLst/>
          </a:prstGeom>
          <a:solidFill>
            <a:srgbClr val="FFD166">
              <a:alpha val="20000"/>
            </a:srgbClr>
          </a:solidFill>
          <a:ln cap="flat" cmpd="sng" w="9525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6592824" y="111556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MEDIUM RISK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398264" y="1417320"/>
            <a:ext cx="3566160" cy="18288"/>
          </a:xfrm>
          <a:prstGeom prst="rect">
            <a:avLst/>
          </a:prstGeom>
          <a:solidFill>
            <a:srgbClr val="6B7BA4">
              <a:alpha val="30196"/>
            </a:srgbClr>
          </a:solidFill>
          <a:ln cap="flat" cmpd="sng" w="12700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6"/>
          <p:cNvSpPr/>
          <p:nvPr/>
        </p:nvSpPr>
        <p:spPr>
          <a:xfrm>
            <a:off x="4443984" y="15087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6,114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6"/>
          <p:cNvSpPr/>
          <p:nvPr/>
        </p:nvSpPr>
        <p:spPr>
          <a:xfrm>
            <a:off x="6044184" y="15087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Customers (68.3%)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4443984" y="194767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$496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/>
          <p:nvPr/>
        </p:nvSpPr>
        <p:spPr>
          <a:xfrm>
            <a:off x="6044184" y="19476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Avg Purchases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4443984" y="238658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$3,267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6044184" y="23865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Avg Credit Limit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6"/>
          <p:cNvSpPr/>
          <p:nvPr/>
        </p:nvSpPr>
        <p:spPr>
          <a:xfrm>
            <a:off x="4443984" y="282549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15%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6044184" y="28254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Full Payment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6"/>
          <p:cNvSpPr/>
          <p:nvPr/>
        </p:nvSpPr>
        <p:spPr>
          <a:xfrm>
            <a:off x="4398264" y="3310128"/>
            <a:ext cx="3566160" cy="18288"/>
          </a:xfrm>
          <a:prstGeom prst="rect">
            <a:avLst/>
          </a:prstGeom>
          <a:solidFill>
            <a:srgbClr val="6B7BA4">
              <a:alpha val="30196"/>
            </a:srgbClr>
          </a:solidFill>
          <a:ln cap="flat" cmpd="sng" w="12700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6"/>
          <p:cNvSpPr/>
          <p:nvPr/>
        </p:nvSpPr>
        <p:spPr>
          <a:xfrm>
            <a:off x="4443984" y="33832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KEY TRAITS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4443984" y="3630168"/>
            <a:ext cx="91440" cy="91440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6"/>
          <p:cNvSpPr/>
          <p:nvPr/>
        </p:nvSpPr>
        <p:spPr>
          <a:xfrm>
            <a:off x="4608576" y="360273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Majority segment — massive upside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4443984" y="3950208"/>
            <a:ext cx="91440" cy="91440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4608576" y="392277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Minimal card usage &amp; activity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4443984" y="4270248"/>
            <a:ext cx="91440" cy="91440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6"/>
          <p:cNvSpPr/>
          <p:nvPr/>
        </p:nvSpPr>
        <p:spPr>
          <a:xfrm>
            <a:off x="4608576" y="424281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Highest revenue opportunity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6"/>
          <p:cNvSpPr/>
          <p:nvPr/>
        </p:nvSpPr>
        <p:spPr>
          <a:xfrm>
            <a:off x="8266176" y="658368"/>
            <a:ext cx="3749040" cy="388620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8266176" y="658368"/>
            <a:ext cx="3749040" cy="54864"/>
          </a:xfrm>
          <a:prstGeom prst="rect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6"/>
          <p:cNvSpPr/>
          <p:nvPr/>
        </p:nvSpPr>
        <p:spPr>
          <a:xfrm>
            <a:off x="8403336" y="777240"/>
            <a:ext cx="384048" cy="384048"/>
          </a:xfrm>
          <a:prstGeom prst="ellipse">
            <a:avLst/>
          </a:prstGeom>
          <a:solidFill>
            <a:srgbClr val="FF4E6A">
              <a:alpha val="30196"/>
            </a:srgbClr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6"/>
          <p:cNvSpPr/>
          <p:nvPr/>
        </p:nvSpPr>
        <p:spPr>
          <a:xfrm>
            <a:off x="8403336" y="77724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8906256" y="804672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Cash Dependent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8906256" y="1115568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Cluster 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10552176" y="1115568"/>
            <a:ext cx="1280160" cy="201168"/>
          </a:xfrm>
          <a:prstGeom prst="rect">
            <a:avLst/>
          </a:prstGeom>
          <a:solidFill>
            <a:srgbClr val="FF4E6A">
              <a:alpha val="20000"/>
            </a:srgbClr>
          </a:solidFill>
          <a:ln cap="flat" cmpd="sng" w="9525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6"/>
          <p:cNvSpPr/>
          <p:nvPr/>
        </p:nvSpPr>
        <p:spPr>
          <a:xfrm>
            <a:off x="10552176" y="111556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HIGH RISK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8357616" y="1417320"/>
            <a:ext cx="3566160" cy="18288"/>
          </a:xfrm>
          <a:prstGeom prst="rect">
            <a:avLst/>
          </a:prstGeom>
          <a:solidFill>
            <a:srgbClr val="6B7BA4">
              <a:alpha val="30196"/>
            </a:srgbClr>
          </a:solidFill>
          <a:ln cap="flat" cmpd="sng" w="12700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6"/>
          <p:cNvSpPr/>
          <p:nvPr/>
        </p:nvSpPr>
        <p:spPr>
          <a:xfrm>
            <a:off x="8403336" y="15087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1,561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10003536" y="150876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Customers (17.4%)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6"/>
          <p:cNvSpPr/>
          <p:nvPr/>
        </p:nvSpPr>
        <p:spPr>
          <a:xfrm>
            <a:off x="8403336" y="194767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$3,917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6"/>
          <p:cNvSpPr/>
          <p:nvPr/>
        </p:nvSpPr>
        <p:spPr>
          <a:xfrm>
            <a:off x="10003536" y="1947672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Avg Cash Advance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6"/>
          <p:cNvSpPr/>
          <p:nvPr/>
        </p:nvSpPr>
        <p:spPr>
          <a:xfrm>
            <a:off x="8403336" y="238658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$6,729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6"/>
          <p:cNvSpPr/>
          <p:nvPr/>
        </p:nvSpPr>
        <p:spPr>
          <a:xfrm>
            <a:off x="10003536" y="2386584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Avg Credit Limit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8403336" y="282549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3%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10003536" y="282549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Full Payment Rate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8357616" y="3310128"/>
            <a:ext cx="3566160" cy="18288"/>
          </a:xfrm>
          <a:prstGeom prst="rect">
            <a:avLst/>
          </a:prstGeom>
          <a:solidFill>
            <a:srgbClr val="6B7BA4">
              <a:alpha val="30196"/>
            </a:srgbClr>
          </a:solidFill>
          <a:ln cap="flat" cmpd="sng" w="12700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6"/>
          <p:cNvSpPr/>
          <p:nvPr/>
        </p:nvSpPr>
        <p:spPr>
          <a:xfrm>
            <a:off x="8403336" y="338328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KEY TRAITS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8403336" y="3630168"/>
            <a:ext cx="91440" cy="91440"/>
          </a:xfrm>
          <a:prstGeom prst="ellipse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6"/>
          <p:cNvSpPr/>
          <p:nvPr/>
        </p:nvSpPr>
        <p:spPr>
          <a:xfrm>
            <a:off x="8567928" y="360273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Heavy cash advance reliance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6"/>
          <p:cNvSpPr/>
          <p:nvPr/>
        </p:nvSpPr>
        <p:spPr>
          <a:xfrm>
            <a:off x="8403336" y="3950208"/>
            <a:ext cx="91440" cy="91440"/>
          </a:xfrm>
          <a:prstGeom prst="ellipse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6"/>
          <p:cNvSpPr/>
          <p:nvPr/>
        </p:nvSpPr>
        <p:spPr>
          <a:xfrm>
            <a:off x="8567928" y="392277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Near-zero purchase activity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6"/>
          <p:cNvSpPr/>
          <p:nvPr/>
        </p:nvSpPr>
        <p:spPr>
          <a:xfrm>
            <a:off x="8403336" y="4270248"/>
            <a:ext cx="91440" cy="91440"/>
          </a:xfrm>
          <a:prstGeom prst="ellipse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6"/>
          <p:cNvSpPr/>
          <p:nvPr/>
        </p:nvSpPr>
        <p:spPr>
          <a:xfrm>
            <a:off x="8567928" y="4242816"/>
            <a:ext cx="3337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Default prevention priority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6"/>
          <p:cNvSpPr/>
          <p:nvPr/>
        </p:nvSpPr>
        <p:spPr>
          <a:xfrm>
            <a:off x="347472" y="4617720"/>
            <a:ext cx="11466576" cy="36576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6"/>
          <p:cNvSpPr/>
          <p:nvPr/>
        </p:nvSpPr>
        <p:spPr>
          <a:xfrm>
            <a:off x="2286000" y="4709160"/>
            <a:ext cx="109728" cy="109728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6"/>
          <p:cNvSpPr/>
          <p:nvPr/>
        </p:nvSpPr>
        <p:spPr>
          <a:xfrm>
            <a:off x="2450592" y="46634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14.2%  Premium Spenders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5760720" y="4709160"/>
            <a:ext cx="109728" cy="109728"/>
          </a:xfrm>
          <a:prstGeom prst="ellipse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"/>
          <p:cNvSpPr/>
          <p:nvPr/>
        </p:nvSpPr>
        <p:spPr>
          <a:xfrm>
            <a:off x="5925312" y="46634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68.3%  Low Engagement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9235440" y="4709160"/>
            <a:ext cx="109728" cy="109728"/>
          </a:xfrm>
          <a:prstGeom prst="ellipse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6"/>
          <p:cNvSpPr/>
          <p:nvPr/>
        </p:nvSpPr>
        <p:spPr>
          <a:xfrm>
            <a:off x="9400032" y="466344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17.4%  Cash Dependent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7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7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Dashboard — CreditIQ Analytics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g_dashboard.jpg" id="369" name="Google Shape;3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658368"/>
            <a:ext cx="7315200" cy="420624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7"/>
          <p:cNvSpPr/>
          <p:nvPr/>
        </p:nvSpPr>
        <p:spPr>
          <a:xfrm>
            <a:off x="7863840" y="658368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DASHBOARD HIGHLIGHTS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7863840" y="987552"/>
            <a:ext cx="4315968" cy="5486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"/>
          <p:cNvSpPr/>
          <p:nvPr/>
        </p:nvSpPr>
        <p:spPr>
          <a:xfrm>
            <a:off x="7863840" y="987552"/>
            <a:ext cx="54864" cy="54864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7"/>
          <p:cNvSpPr/>
          <p:nvPr/>
        </p:nvSpPr>
        <p:spPr>
          <a:xfrm>
            <a:off x="8394192" y="10058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KPI Cards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8394192" y="11887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Live metrics: Customers, Avg Credit, Spending, Risk 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7863840" y="1627632"/>
            <a:ext cx="4315968" cy="5486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7"/>
          <p:cNvSpPr/>
          <p:nvPr/>
        </p:nvSpPr>
        <p:spPr>
          <a:xfrm>
            <a:off x="7863840" y="1627632"/>
            <a:ext cx="54864" cy="54864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7"/>
          <p:cNvSpPr/>
          <p:nvPr/>
        </p:nvSpPr>
        <p:spPr>
          <a:xfrm>
            <a:off x="8394192" y="164592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Segment Distribution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8394192" y="18288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Donut chart with cluster breakdown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7863840" y="2267712"/>
            <a:ext cx="4315968" cy="5486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7863840" y="2267712"/>
            <a:ext cx="54864" cy="54864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7"/>
          <p:cNvSpPr/>
          <p:nvPr/>
        </p:nvSpPr>
        <p:spPr>
          <a:xfrm>
            <a:off x="8394192" y="228600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Score Panel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8394192" y="24688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0-100 default &amp; churn risk by segment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7863840" y="2907792"/>
            <a:ext cx="4315968" cy="5486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7"/>
          <p:cNvSpPr/>
          <p:nvPr/>
        </p:nvSpPr>
        <p:spPr>
          <a:xfrm>
            <a:off x="7863840" y="2907792"/>
            <a:ext cx="54864" cy="54864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7"/>
          <p:cNvSpPr/>
          <p:nvPr/>
        </p:nvSpPr>
        <p:spPr>
          <a:xfrm>
            <a:off x="8394192" y="292608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 Profile Table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7"/>
          <p:cNvSpPr/>
          <p:nvPr/>
        </p:nvSpPr>
        <p:spPr>
          <a:xfrm>
            <a:off x="8394192" y="31089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Purchases, Cash Advance, Credit Limit per segment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7863840" y="3547872"/>
            <a:ext cx="4315968" cy="5486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7"/>
          <p:cNvSpPr/>
          <p:nvPr/>
        </p:nvSpPr>
        <p:spPr>
          <a:xfrm>
            <a:off x="7863840" y="3547872"/>
            <a:ext cx="54864" cy="54864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7"/>
          <p:cNvSpPr/>
          <p:nvPr/>
        </p:nvSpPr>
        <p:spPr>
          <a:xfrm>
            <a:off x="7973568" y="3566160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8394192" y="356616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Interactive Filters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8394192" y="374904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Segment, credit range &amp; spending sliders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7863840" y="4187952"/>
            <a:ext cx="4315968" cy="5486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7"/>
          <p:cNvSpPr/>
          <p:nvPr/>
        </p:nvSpPr>
        <p:spPr>
          <a:xfrm>
            <a:off x="7863840" y="4187952"/>
            <a:ext cx="54864" cy="54864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7"/>
          <p:cNvSpPr/>
          <p:nvPr/>
        </p:nvSpPr>
        <p:spPr>
          <a:xfrm>
            <a:off x="7973568" y="42062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8394192" y="4206240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Insights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8394192" y="43891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Auto-generated actionable business recommendations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8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8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 Intelligence — Spending Behaviour vs Credit Limit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g_scatter.jpg" id="404" name="Google Shape;40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658368"/>
            <a:ext cx="786384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8"/>
          <p:cNvSpPr/>
          <p:nvPr/>
        </p:nvSpPr>
        <p:spPr>
          <a:xfrm>
            <a:off x="8412480" y="65836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CHART INSIGHTS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8"/>
          <p:cNvSpPr/>
          <p:nvPr/>
        </p:nvSpPr>
        <p:spPr>
          <a:xfrm>
            <a:off x="8412480" y="987552"/>
            <a:ext cx="3401568" cy="82296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8"/>
          <p:cNvSpPr/>
          <p:nvPr/>
        </p:nvSpPr>
        <p:spPr>
          <a:xfrm>
            <a:off x="8412480" y="987552"/>
            <a:ext cx="54864" cy="82296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8"/>
          <p:cNvSpPr/>
          <p:nvPr/>
        </p:nvSpPr>
        <p:spPr>
          <a:xfrm>
            <a:off x="8577072" y="102412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💎 Premium Spenders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8"/>
          <p:cNvSpPr/>
          <p:nvPr/>
        </p:nvSpPr>
        <p:spPr>
          <a:xfrm>
            <a:off x="8577072" y="128016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High credit limit + high purchases. Top tier — reward and retain.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8"/>
          <p:cNvSpPr/>
          <p:nvPr/>
        </p:nvSpPr>
        <p:spPr>
          <a:xfrm>
            <a:off x="8412480" y="1947672"/>
            <a:ext cx="3401568" cy="82296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8"/>
          <p:cNvSpPr/>
          <p:nvPr/>
        </p:nvSpPr>
        <p:spPr>
          <a:xfrm>
            <a:off x="8412480" y="1947672"/>
            <a:ext cx="54864" cy="82296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8"/>
          <p:cNvSpPr/>
          <p:nvPr/>
        </p:nvSpPr>
        <p:spPr>
          <a:xfrm>
            <a:off x="8577072" y="198424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😐 Low Engagement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8"/>
          <p:cNvSpPr/>
          <p:nvPr/>
        </p:nvSpPr>
        <p:spPr>
          <a:xfrm>
            <a:off x="8577072" y="224028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Low credit + very low purchases. Biggest activation opportunity.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8"/>
          <p:cNvSpPr/>
          <p:nvPr/>
        </p:nvSpPr>
        <p:spPr>
          <a:xfrm>
            <a:off x="8412480" y="2907792"/>
            <a:ext cx="3401568" cy="82296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8"/>
          <p:cNvSpPr/>
          <p:nvPr/>
        </p:nvSpPr>
        <p:spPr>
          <a:xfrm>
            <a:off x="8412480" y="2907792"/>
            <a:ext cx="54864" cy="822960"/>
          </a:xfrm>
          <a:prstGeom prst="rect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8"/>
          <p:cNvSpPr/>
          <p:nvPr/>
        </p:nvSpPr>
        <p:spPr>
          <a:xfrm>
            <a:off x="8577072" y="2944368"/>
            <a:ext cx="3108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⚠️ Cash Dependent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8"/>
          <p:cNvSpPr/>
          <p:nvPr/>
        </p:nvSpPr>
        <p:spPr>
          <a:xfrm>
            <a:off x="8577072" y="3200400"/>
            <a:ext cx="3108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Mid-high limit but zero purchases — relying on cash advance only.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8"/>
          <p:cNvSpPr/>
          <p:nvPr/>
        </p:nvSpPr>
        <p:spPr>
          <a:xfrm>
            <a:off x="347472" y="4297680"/>
            <a:ext cx="11466576" cy="548640"/>
          </a:xfrm>
          <a:prstGeom prst="rect">
            <a:avLst/>
          </a:prstGeom>
          <a:solidFill>
            <a:srgbClr val="FFD166">
              <a:alpha val="10196"/>
            </a:srgbClr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8"/>
          <p:cNvSpPr/>
          <p:nvPr/>
        </p:nvSpPr>
        <p:spPr>
          <a:xfrm>
            <a:off x="502920" y="429768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💡  KEY INSIGHT:  68.3% of customers are low-engagement — the biggest untapped revenue opportunity for the bank.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9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9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 </a:t>
            </a: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Behavior Analysis—Heatmap</a:t>
            </a: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&amp; Spending Comparison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g_heatmap.jpg" id="427" name="Google Shape;42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658368"/>
            <a:ext cx="11466576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9"/>
          <p:cNvSpPr/>
          <p:nvPr/>
        </p:nvSpPr>
        <p:spPr>
          <a:xfrm>
            <a:off x="347472" y="4572000"/>
            <a:ext cx="3657600" cy="347472"/>
          </a:xfrm>
          <a:prstGeom prst="rect">
            <a:avLst/>
          </a:prstGeom>
          <a:solidFill>
            <a:srgbClr val="FF4E6A">
              <a:alpha val="12156"/>
            </a:srgbClr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"/>
          <p:cNvSpPr/>
          <p:nvPr/>
        </p:nvSpPr>
        <p:spPr>
          <a:xfrm>
            <a:off x="384048" y="457200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Cash Dependent: Scores 1.0 on Balance, Cash Advance &amp; Min Payments — highest financial risk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9"/>
          <p:cNvSpPr/>
          <p:nvPr/>
        </p:nvSpPr>
        <p:spPr>
          <a:xfrm>
            <a:off x="4206240" y="4572000"/>
            <a:ext cx="3657600" cy="347472"/>
          </a:xfrm>
          <a:prstGeom prst="rect">
            <a:avLst/>
          </a:prstGeom>
          <a:solidFill>
            <a:srgbClr val="00C9FF">
              <a:alpha val="12156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9"/>
          <p:cNvSpPr/>
          <p:nvPr/>
        </p:nvSpPr>
        <p:spPr>
          <a:xfrm>
            <a:off x="4242816" y="457200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Premium Spenders: Top Purchases &amp; Payments — strong repayment behavior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9"/>
          <p:cNvSpPr/>
          <p:nvPr/>
        </p:nvSpPr>
        <p:spPr>
          <a:xfrm>
            <a:off x="8065008" y="4572000"/>
            <a:ext cx="3657600" cy="347472"/>
          </a:xfrm>
          <a:prstGeom prst="rect">
            <a:avLst/>
          </a:prstGeom>
          <a:solidFill>
            <a:srgbClr val="FFD166">
              <a:alpha val="12156"/>
            </a:srgbClr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9"/>
          <p:cNvSpPr/>
          <p:nvPr/>
        </p:nvSpPr>
        <p:spPr>
          <a:xfrm>
            <a:off x="8101584" y="4572000"/>
            <a:ext cx="3611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Engagement: Near-zero across all features — dormant customer group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0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PCA Cluster Visualization &amp; Feature Distribution Explorer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g_pca.jpg" id="441" name="Google Shape;44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658368"/>
            <a:ext cx="11466576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10"/>
          <p:cNvSpPr/>
          <p:nvPr/>
        </p:nvSpPr>
        <p:spPr>
          <a:xfrm>
            <a:off x="347472" y="4480560"/>
            <a:ext cx="2788920" cy="475488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0"/>
          <p:cNvSpPr/>
          <p:nvPr/>
        </p:nvSpPr>
        <p:spPr>
          <a:xfrm>
            <a:off x="438912" y="449884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PC1 — 27.3% Variance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0"/>
          <p:cNvSpPr/>
          <p:nvPr/>
        </p:nvSpPr>
        <p:spPr>
          <a:xfrm>
            <a:off x="438912" y="4709160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Primary separating dimension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0"/>
          <p:cNvSpPr/>
          <p:nvPr/>
        </p:nvSpPr>
        <p:spPr>
          <a:xfrm>
            <a:off x="3246120" y="4480560"/>
            <a:ext cx="2788920" cy="475488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0"/>
          <p:cNvSpPr/>
          <p:nvPr/>
        </p:nvSpPr>
        <p:spPr>
          <a:xfrm>
            <a:off x="3337560" y="449884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PC2 — 20.3% Variance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3337560" y="4709160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Secondary cluster dimension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6144768" y="4480560"/>
            <a:ext cx="2788920" cy="475488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0"/>
          <p:cNvSpPr/>
          <p:nvPr/>
        </p:nvSpPr>
        <p:spPr>
          <a:xfrm>
            <a:off x="6236208" y="449884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Silhouette: 0.2510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/>
          <p:nvPr/>
        </p:nvSpPr>
        <p:spPr>
          <a:xfrm>
            <a:off x="6236208" y="4709160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Acceptable for behavioral data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0"/>
          <p:cNvSpPr/>
          <p:nvPr/>
        </p:nvSpPr>
        <p:spPr>
          <a:xfrm>
            <a:off x="9043416" y="4480560"/>
            <a:ext cx="2788920" cy="475488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0"/>
          <p:cNvSpPr/>
          <p:nvPr/>
        </p:nvSpPr>
        <p:spPr>
          <a:xfrm>
            <a:off x="9134856" y="449884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ANOVA p &lt; 0.001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/>
          <p:nvPr/>
        </p:nvSpPr>
        <p:spPr>
          <a:xfrm>
            <a:off x="9134856" y="4709160"/>
            <a:ext cx="2606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All clusters statistically distinct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11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 Insights &amp; Strategy Panel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img_business.jpg" id="461" name="Google Shape;4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658368"/>
            <a:ext cx="11466576" cy="4251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2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2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 Insights &amp; Statistical Validation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2"/>
          <p:cNvSpPr/>
          <p:nvPr/>
        </p:nvSpPr>
        <p:spPr>
          <a:xfrm>
            <a:off x="347472" y="685800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📐 ANOVA STATISTICAL VALIDATION (P &lt; 0.001 FOR ALL FEATURES)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347472" y="960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1673352" y="1014984"/>
            <a:ext cx="3754080" cy="201168"/>
          </a:xfrm>
          <a:prstGeom prst="rect">
            <a:avLst/>
          </a:prstGeom>
          <a:solidFill>
            <a:srgbClr val="00C9FF">
              <a:alpha val="60000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5473152" y="9601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F=2,370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347472" y="16002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Purchases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2"/>
          <p:cNvSpPr/>
          <p:nvPr/>
        </p:nvSpPr>
        <p:spPr>
          <a:xfrm>
            <a:off x="1673352" y="1655064"/>
            <a:ext cx="4148496" cy="201168"/>
          </a:xfrm>
          <a:prstGeom prst="rect">
            <a:avLst/>
          </a:prstGeom>
          <a:solidFill>
            <a:srgbClr val="00C9FF">
              <a:alpha val="60000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2"/>
          <p:cNvSpPr/>
          <p:nvPr/>
        </p:nvSpPr>
        <p:spPr>
          <a:xfrm>
            <a:off x="5867568" y="16002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F=2,619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2"/>
          <p:cNvSpPr/>
          <p:nvPr/>
        </p:nvSpPr>
        <p:spPr>
          <a:xfrm>
            <a:off x="347472" y="22402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Cash Advance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1673352" y="2295144"/>
            <a:ext cx="5029200" cy="201168"/>
          </a:xfrm>
          <a:prstGeom prst="rect">
            <a:avLst/>
          </a:prstGeom>
          <a:solidFill>
            <a:srgbClr val="00C9FF">
              <a:alpha val="60000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2"/>
          <p:cNvSpPr/>
          <p:nvPr/>
        </p:nvSpPr>
        <p:spPr>
          <a:xfrm>
            <a:off x="6748272" y="22402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F=3,175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6291072" y="9601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Credit Limit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7616952" y="1014984"/>
            <a:ext cx="2364912" cy="201168"/>
          </a:xfrm>
          <a:prstGeom prst="rect">
            <a:avLst/>
          </a:prstGeom>
          <a:solidFill>
            <a:srgbClr val="00C9FF">
              <a:alpha val="60000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10027584" y="9601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F=1,493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6565397" y="1591050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Payments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7616952" y="1655064"/>
            <a:ext cx="1609344" cy="201168"/>
          </a:xfrm>
          <a:prstGeom prst="rect">
            <a:avLst/>
          </a:prstGeom>
          <a:solidFill>
            <a:srgbClr val="00C9FF">
              <a:alpha val="60000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2"/>
          <p:cNvSpPr/>
          <p:nvPr/>
        </p:nvSpPr>
        <p:spPr>
          <a:xfrm>
            <a:off x="9272016" y="16002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F=1,016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2"/>
          <p:cNvSpPr/>
          <p:nvPr/>
        </p:nvSpPr>
        <p:spPr>
          <a:xfrm>
            <a:off x="7260147" y="2221855"/>
            <a:ext cx="128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Min Payments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8465049" y="2295150"/>
            <a:ext cx="472500" cy="201000"/>
          </a:xfrm>
          <a:prstGeom prst="rect">
            <a:avLst/>
          </a:prstGeom>
          <a:solidFill>
            <a:srgbClr val="00C9FF">
              <a:alpha val="60000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9226299" y="2240268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F=203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347472" y="290779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💡 KEY FINDINGS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347472" y="3182112"/>
            <a:ext cx="5486400" cy="713232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347472" y="3182112"/>
            <a:ext cx="54864" cy="71323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502920" y="3218688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914400" y="321868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Premium Spenders (14.2%) contribute disproportionately to revenue — protect &amp; reward this cohort.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347472" y="4005072"/>
            <a:ext cx="5486400" cy="713232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2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502920" y="4041648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914400" y="404164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Low Engagement customers (68.3%) represent the biggest untapped revenue opportunity.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6291072" y="3182112"/>
            <a:ext cx="5486400" cy="713232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2"/>
          <p:cNvSpPr/>
          <p:nvPr/>
        </p:nvSpPr>
        <p:spPr>
          <a:xfrm>
            <a:off x="6291072" y="3182112"/>
            <a:ext cx="54864" cy="71323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6858000" y="321868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Cash Dependent users (17.4%) show high default risk — 87/100 risk score; early intervention is critical.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6291072" y="4005072"/>
            <a:ext cx="5486400" cy="713232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6291072" y="4005072"/>
            <a:ext cx="54864" cy="71323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6446520" y="4041648"/>
            <a:ext cx="365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6858000" y="4041648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Data-driven segmentation improves marketing ROI and enables personalized customer strategies.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3"/>
          <p:cNvSpPr/>
          <p:nvPr/>
        </p:nvSpPr>
        <p:spPr>
          <a:xfrm>
            <a:off x="347472" y="301752"/>
            <a:ext cx="164592" cy="164592"/>
          </a:xfrm>
          <a:prstGeom prst="ellipse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3"/>
          <p:cNvSpPr/>
          <p:nvPr/>
        </p:nvSpPr>
        <p:spPr>
          <a:xfrm>
            <a:off x="594360" y="25603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Challenges Faced &amp; Future Enhancements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347472" y="685800"/>
            <a:ext cx="5394960" cy="42062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3"/>
          <p:cNvSpPr/>
          <p:nvPr/>
        </p:nvSpPr>
        <p:spPr>
          <a:xfrm>
            <a:off x="347472" y="685800"/>
            <a:ext cx="54864" cy="4206240"/>
          </a:xfrm>
          <a:prstGeom prst="rect">
            <a:avLst/>
          </a:prstGeom>
          <a:solidFill>
            <a:srgbClr val="FF9A3C"/>
          </a:solidFill>
          <a:ln cap="flat" cmpd="sng" w="12700">
            <a:solidFill>
              <a:srgbClr val="FF9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3"/>
          <p:cNvSpPr/>
          <p:nvPr/>
        </p:nvSpPr>
        <p:spPr>
          <a:xfrm>
            <a:off x="502920" y="74980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A3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9A3C"/>
                </a:solidFill>
                <a:latin typeface="Calibri"/>
                <a:ea typeface="Calibri"/>
                <a:cs typeface="Calibri"/>
                <a:sym typeface="Calibri"/>
              </a:rPr>
              <a:t>⚡ CHALLENGES FACED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3"/>
          <p:cNvSpPr/>
          <p:nvPr/>
        </p:nvSpPr>
        <p:spPr>
          <a:xfrm>
            <a:off x="502920" y="1005840"/>
            <a:ext cx="5074920" cy="685800"/>
          </a:xfrm>
          <a:prstGeom prst="rect">
            <a:avLst/>
          </a:prstGeom>
          <a:solidFill>
            <a:srgbClr val="0F1232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3"/>
          <p:cNvSpPr/>
          <p:nvPr/>
        </p:nvSpPr>
        <p:spPr>
          <a:xfrm>
            <a:off x="502920" y="1005840"/>
            <a:ext cx="384048" cy="685800"/>
          </a:xfrm>
          <a:prstGeom prst="rect">
            <a:avLst/>
          </a:prstGeom>
          <a:solidFill>
            <a:srgbClr val="FF9A3C">
              <a:alpha val="30196"/>
            </a:srgbClr>
          </a:solidFill>
          <a:ln cap="flat" cmpd="sng" w="12700">
            <a:solidFill>
              <a:srgbClr val="FF9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3"/>
          <p:cNvSpPr/>
          <p:nvPr/>
        </p:nvSpPr>
        <p:spPr>
          <a:xfrm>
            <a:off x="502920" y="1005840"/>
            <a:ext cx="3840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A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A3C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960120" y="1042416"/>
            <a:ext cx="4434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Value Handling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3"/>
          <p:cNvSpPr/>
          <p:nvPr/>
        </p:nvSpPr>
        <p:spPr>
          <a:xfrm>
            <a:off x="960120" y="1261872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CREDIT_LIMIT and MINIMUM_PAYMENTS had null values requiring strategic imputation to preserve data integrity.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502920" y="1783080"/>
            <a:ext cx="5074920" cy="685800"/>
          </a:xfrm>
          <a:prstGeom prst="rect">
            <a:avLst/>
          </a:prstGeom>
          <a:solidFill>
            <a:srgbClr val="0F1232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3"/>
          <p:cNvSpPr/>
          <p:nvPr/>
        </p:nvSpPr>
        <p:spPr>
          <a:xfrm>
            <a:off x="502920" y="1783080"/>
            <a:ext cx="384048" cy="685800"/>
          </a:xfrm>
          <a:prstGeom prst="rect">
            <a:avLst/>
          </a:prstGeom>
          <a:solidFill>
            <a:srgbClr val="FF9A3C">
              <a:alpha val="30196"/>
            </a:srgbClr>
          </a:solidFill>
          <a:ln cap="flat" cmpd="sng" w="12700">
            <a:solidFill>
              <a:srgbClr val="FF9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3"/>
          <p:cNvSpPr/>
          <p:nvPr/>
        </p:nvSpPr>
        <p:spPr>
          <a:xfrm>
            <a:off x="502920" y="1783080"/>
            <a:ext cx="3840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A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A3C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960120" y="1819656"/>
            <a:ext cx="4434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Optimal Cluster Selection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960120" y="2039112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Balancing Elbow Method and Silhouette Score to determine K=3 as the most interpretable choice.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3"/>
          <p:cNvSpPr/>
          <p:nvPr/>
        </p:nvSpPr>
        <p:spPr>
          <a:xfrm>
            <a:off x="502920" y="2560320"/>
            <a:ext cx="5074920" cy="685800"/>
          </a:xfrm>
          <a:prstGeom prst="rect">
            <a:avLst/>
          </a:prstGeom>
          <a:solidFill>
            <a:srgbClr val="0F1232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3"/>
          <p:cNvSpPr/>
          <p:nvPr/>
        </p:nvSpPr>
        <p:spPr>
          <a:xfrm>
            <a:off x="502920" y="2560320"/>
            <a:ext cx="384048" cy="685800"/>
          </a:xfrm>
          <a:prstGeom prst="rect">
            <a:avLst/>
          </a:prstGeom>
          <a:solidFill>
            <a:srgbClr val="FF9A3C">
              <a:alpha val="30196"/>
            </a:srgbClr>
          </a:solidFill>
          <a:ln cap="flat" cmpd="sng" w="12700">
            <a:solidFill>
              <a:srgbClr val="FF9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13"/>
          <p:cNvSpPr/>
          <p:nvPr/>
        </p:nvSpPr>
        <p:spPr>
          <a:xfrm>
            <a:off x="502920" y="2560320"/>
            <a:ext cx="3840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A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A3C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960120" y="2596896"/>
            <a:ext cx="4434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 Interpretation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960120" y="2816352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Translating mathematical cluster boundaries into meaningful, actionable business segment descriptions.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502920" y="3337560"/>
            <a:ext cx="5074920" cy="685800"/>
          </a:xfrm>
          <a:prstGeom prst="rect">
            <a:avLst/>
          </a:prstGeom>
          <a:solidFill>
            <a:srgbClr val="0F1232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"/>
          <p:cNvSpPr/>
          <p:nvPr/>
        </p:nvSpPr>
        <p:spPr>
          <a:xfrm>
            <a:off x="502920" y="3337560"/>
            <a:ext cx="384048" cy="685800"/>
          </a:xfrm>
          <a:prstGeom prst="rect">
            <a:avLst/>
          </a:prstGeom>
          <a:solidFill>
            <a:srgbClr val="FF9A3C">
              <a:alpha val="30196"/>
            </a:srgbClr>
          </a:solidFill>
          <a:ln cap="flat" cmpd="sng" w="12700">
            <a:solidFill>
              <a:srgbClr val="FF9A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3"/>
          <p:cNvSpPr/>
          <p:nvPr/>
        </p:nvSpPr>
        <p:spPr>
          <a:xfrm>
            <a:off x="502920" y="3337560"/>
            <a:ext cx="38404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A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9A3C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960120" y="3374136"/>
            <a:ext cx="4434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Integration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960120" y="3593592"/>
            <a:ext cx="4434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Building a real-time, interactive Streamlit UI that accurately reflects K-Means output with filtering.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5925312" y="685800"/>
            <a:ext cx="5897880" cy="420624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13"/>
          <p:cNvSpPr/>
          <p:nvPr/>
        </p:nvSpPr>
        <p:spPr>
          <a:xfrm>
            <a:off x="5925312" y="685800"/>
            <a:ext cx="54864" cy="4206240"/>
          </a:xfrm>
          <a:prstGeom prst="rect">
            <a:avLst/>
          </a:prstGeom>
          <a:solidFill>
            <a:srgbClr val="00E5CC"/>
          </a:solidFill>
          <a:ln cap="flat" cmpd="sng" w="12700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3"/>
          <p:cNvSpPr/>
          <p:nvPr/>
        </p:nvSpPr>
        <p:spPr>
          <a:xfrm>
            <a:off x="6080760" y="7498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🚀 FUTURE ENHANCEMENTS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6601968" y="100584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Segmentation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6601968" y="1225296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Live customer classification as new transactions occur using streaming pipelines.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6080760" y="1673352"/>
            <a:ext cx="5559552" cy="9144"/>
          </a:xfrm>
          <a:prstGeom prst="rect">
            <a:avLst/>
          </a:prstGeom>
          <a:solidFill>
            <a:srgbClr val="6B7BA4">
              <a:alpha val="30196"/>
            </a:srgbClr>
          </a:solidFill>
          <a:ln cap="flat" cmpd="sng" w="12700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6601968" y="1719072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Fraud Detection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6601968" y="1938528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Combine segmentation with anomaly detection models to flag suspicious behavior.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6080760" y="2386584"/>
            <a:ext cx="5559552" cy="9144"/>
          </a:xfrm>
          <a:prstGeom prst="rect">
            <a:avLst/>
          </a:prstGeom>
          <a:solidFill>
            <a:srgbClr val="6B7BA4">
              <a:alpha val="30196"/>
            </a:srgbClr>
          </a:solidFill>
          <a:ln cap="flat" cmpd="sng" w="12700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3"/>
          <p:cNvSpPr/>
          <p:nvPr/>
        </p:nvSpPr>
        <p:spPr>
          <a:xfrm>
            <a:off x="6601968" y="2432304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Advanced Algorithms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3"/>
          <p:cNvSpPr/>
          <p:nvPr/>
        </p:nvSpPr>
        <p:spPr>
          <a:xfrm>
            <a:off x="6601968" y="2651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Explore DBSCAN, Gaussian Mixture Models, or Hierarchical clustering for richer segments.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6080760" y="3099816"/>
            <a:ext cx="5559552" cy="9144"/>
          </a:xfrm>
          <a:prstGeom prst="rect">
            <a:avLst/>
          </a:prstGeom>
          <a:solidFill>
            <a:srgbClr val="6B7BA4">
              <a:alpha val="30196"/>
            </a:srgbClr>
          </a:solidFill>
          <a:ln cap="flat" cmpd="sng" w="12700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6601968" y="314553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Deployment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6601968" y="3364992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Deploy on AWS/GCP with auto-scaling for enterprise-level real-time analytics.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6080760" y="3813048"/>
            <a:ext cx="5559552" cy="9144"/>
          </a:xfrm>
          <a:prstGeom prst="rect">
            <a:avLst/>
          </a:prstGeom>
          <a:solidFill>
            <a:srgbClr val="6B7BA4">
              <a:alpha val="30196"/>
            </a:srgbClr>
          </a:solidFill>
          <a:ln cap="flat" cmpd="sng" w="12700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13"/>
          <p:cNvSpPr/>
          <p:nvPr/>
        </p:nvSpPr>
        <p:spPr>
          <a:xfrm>
            <a:off x="6601968" y="3858768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Power BI / Tableau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13"/>
          <p:cNvSpPr/>
          <p:nvPr/>
        </p:nvSpPr>
        <p:spPr>
          <a:xfrm>
            <a:off x="6601968" y="4078224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Enhanced executive dashboards with drill-through, forecasting, and scheduled reports.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4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9FF">
              <a:alpha val="5882"/>
            </a:srgbClr>
          </a:solidFill>
          <a:ln cap="flat" cmpd="sng" w="12700">
            <a:solidFill>
              <a:srgbClr val="00C9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4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00E5CC">
              <a:alpha val="5882"/>
            </a:srgbClr>
          </a:solidFill>
          <a:ln cap="flat" cmpd="sng" w="12700">
            <a:solidFill>
              <a:srgbClr val="00E5CC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4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4"/>
          <p:cNvSpPr/>
          <p:nvPr/>
        </p:nvSpPr>
        <p:spPr>
          <a:xfrm>
            <a:off x="457200" y="777240"/>
            <a:ext cx="7315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&amp; Impact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4"/>
          <p:cNvSpPr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This project demonstrates how machine learning and data analytics can transform raw credit card data into meaningful business intelligence. The K-Means segmentation model (K=3, validated with Silhouette Score 0.2510, ANOVA p&lt;0.001) enables financial institutions to move from one-size-fits-all to precision-driven customer strategies.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4"/>
          <p:cNvSpPr/>
          <p:nvPr/>
        </p:nvSpPr>
        <p:spPr>
          <a:xfrm>
            <a:off x="457200" y="2468880"/>
            <a:ext cx="2743200" cy="137160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4"/>
          <p:cNvSpPr/>
          <p:nvPr/>
        </p:nvSpPr>
        <p:spPr>
          <a:xfrm>
            <a:off x="457200" y="2468880"/>
            <a:ext cx="2743200" cy="45720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4"/>
          <p:cNvSpPr/>
          <p:nvPr/>
        </p:nvSpPr>
        <p:spPr>
          <a:xfrm>
            <a:off x="1463040" y="2542032"/>
            <a:ext cx="685800" cy="384048"/>
          </a:xfrm>
          <a:prstGeom prst="ellipse">
            <a:avLst/>
          </a:prstGeom>
          <a:solidFill>
            <a:srgbClr val="00C9FF">
              <a:alpha val="20000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1463040" y="2542032"/>
            <a:ext cx="685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TGT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4"/>
          <p:cNvSpPr/>
          <p:nvPr/>
        </p:nvSpPr>
        <p:spPr>
          <a:xfrm>
            <a:off x="548640" y="29992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Precision Marketing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4"/>
          <p:cNvSpPr/>
          <p:nvPr/>
        </p:nvSpPr>
        <p:spPr>
          <a:xfrm>
            <a:off x="548640" y="331012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Personalized campaigns for each segment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4"/>
          <p:cNvSpPr/>
          <p:nvPr/>
        </p:nvSpPr>
        <p:spPr>
          <a:xfrm>
            <a:off x="3383280" y="2468880"/>
            <a:ext cx="2743200" cy="137160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4"/>
          <p:cNvSpPr/>
          <p:nvPr/>
        </p:nvSpPr>
        <p:spPr>
          <a:xfrm>
            <a:off x="3383280" y="2468880"/>
            <a:ext cx="2743200" cy="45720"/>
          </a:xfrm>
          <a:prstGeom prst="rect">
            <a:avLst/>
          </a:prstGeom>
          <a:solidFill>
            <a:srgbClr val="FF4E6A"/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p14"/>
          <p:cNvSpPr/>
          <p:nvPr/>
        </p:nvSpPr>
        <p:spPr>
          <a:xfrm>
            <a:off x="4389120" y="2542032"/>
            <a:ext cx="685800" cy="384048"/>
          </a:xfrm>
          <a:prstGeom prst="ellipse">
            <a:avLst/>
          </a:prstGeom>
          <a:solidFill>
            <a:srgbClr val="FF4E6A">
              <a:alpha val="20000"/>
            </a:srgbClr>
          </a:solidFill>
          <a:ln cap="flat" cmpd="sng" w="12700">
            <a:solidFill>
              <a:srgbClr val="FF4E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4"/>
          <p:cNvSpPr/>
          <p:nvPr/>
        </p:nvSpPr>
        <p:spPr>
          <a:xfrm>
            <a:off x="4389120" y="2542032"/>
            <a:ext cx="685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E6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4E6A"/>
                </a:solidFill>
                <a:latin typeface="Calibri"/>
                <a:ea typeface="Calibri"/>
                <a:cs typeface="Calibri"/>
                <a:sym typeface="Calibri"/>
              </a:rPr>
              <a:t>RIS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4"/>
          <p:cNvSpPr/>
          <p:nvPr/>
        </p:nvSpPr>
        <p:spPr>
          <a:xfrm>
            <a:off x="3474720" y="29992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Risk Reduction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14"/>
          <p:cNvSpPr/>
          <p:nvPr/>
        </p:nvSpPr>
        <p:spPr>
          <a:xfrm>
            <a:off x="3474720" y="331012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Early identification of high-risk customers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14"/>
          <p:cNvSpPr/>
          <p:nvPr/>
        </p:nvSpPr>
        <p:spPr>
          <a:xfrm>
            <a:off x="6309360" y="2468880"/>
            <a:ext cx="2743200" cy="137160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4"/>
          <p:cNvSpPr/>
          <p:nvPr/>
        </p:nvSpPr>
        <p:spPr>
          <a:xfrm>
            <a:off x="6309360" y="2468880"/>
            <a:ext cx="2743200" cy="4572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7315200" y="2542032"/>
            <a:ext cx="685800" cy="384048"/>
          </a:xfrm>
          <a:prstGeom prst="ellipse">
            <a:avLst/>
          </a:prstGeom>
          <a:solidFill>
            <a:srgbClr val="FFD166">
              <a:alpha val="20000"/>
            </a:srgbClr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4"/>
          <p:cNvSpPr/>
          <p:nvPr/>
        </p:nvSpPr>
        <p:spPr>
          <a:xfrm>
            <a:off x="7315200" y="2542032"/>
            <a:ext cx="685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REV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6400800" y="29992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Growth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4"/>
          <p:cNvSpPr/>
          <p:nvPr/>
        </p:nvSpPr>
        <p:spPr>
          <a:xfrm>
            <a:off x="6400800" y="331012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Activate 68.3% dormant customer base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9235440" y="2468880"/>
            <a:ext cx="2743200" cy="1371600"/>
          </a:xfrm>
          <a:prstGeom prst="rect">
            <a:avLst/>
          </a:prstGeom>
          <a:solidFill>
            <a:srgbClr val="141A4A"/>
          </a:solidFill>
          <a:ln cap="flat" cmpd="sng" w="9525">
            <a:solidFill>
              <a:srgbClr val="6B7BA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4"/>
          <p:cNvSpPr/>
          <p:nvPr/>
        </p:nvSpPr>
        <p:spPr>
          <a:xfrm>
            <a:off x="9235440" y="2468880"/>
            <a:ext cx="2743200" cy="45720"/>
          </a:xfrm>
          <a:prstGeom prst="rect">
            <a:avLst/>
          </a:prstGeom>
          <a:solidFill>
            <a:srgbClr val="00E5CC"/>
          </a:solidFill>
          <a:ln cap="flat" cmpd="sng" w="12700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4"/>
          <p:cNvSpPr/>
          <p:nvPr/>
        </p:nvSpPr>
        <p:spPr>
          <a:xfrm>
            <a:off x="10241280" y="2542032"/>
            <a:ext cx="685800" cy="384048"/>
          </a:xfrm>
          <a:prstGeom prst="ellipse">
            <a:avLst/>
          </a:prstGeom>
          <a:solidFill>
            <a:srgbClr val="00E5CC">
              <a:alpha val="20000"/>
            </a:srgbClr>
          </a:solidFill>
          <a:ln cap="flat" cmpd="sng" w="12700">
            <a:solidFill>
              <a:srgbClr val="00E5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4"/>
          <p:cNvSpPr/>
          <p:nvPr/>
        </p:nvSpPr>
        <p:spPr>
          <a:xfrm>
            <a:off x="10241280" y="2542032"/>
            <a:ext cx="685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E5C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E5CC"/>
                </a:solidFill>
                <a:latin typeface="Calibri"/>
                <a:ea typeface="Calibri"/>
                <a:cs typeface="Calibri"/>
                <a:sym typeface="Calibri"/>
              </a:rPr>
              <a:t>DTA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9326880" y="299923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Data-Driven Culture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9326880" y="3310128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Interactive dashboard for ongoing insights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457200" y="406908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BA4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BA4"/>
                </a:solidFill>
                <a:latin typeface="Calibri"/>
                <a:ea typeface="Calibri"/>
                <a:cs typeface="Calibri"/>
                <a:sym typeface="Calibri"/>
              </a:rPr>
              <a:t>Project developed as part of AI Data Analyst Internship at Rooman Technologies Pvt. Ltd.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E2A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5"/>
          <p:cNvSpPr/>
          <p:nvPr/>
        </p:nvSpPr>
        <p:spPr>
          <a:xfrm>
            <a:off x="3200400" y="-1371600"/>
            <a:ext cx="5760720" cy="5760720"/>
          </a:xfrm>
          <a:prstGeom prst="ellipse">
            <a:avLst/>
          </a:prstGeom>
          <a:solidFill>
            <a:srgbClr val="00C9FF">
              <a:alpha val="5098"/>
            </a:srgbClr>
          </a:solidFill>
          <a:ln cap="flat" cmpd="sng" w="12700">
            <a:solidFill>
              <a:srgbClr val="00C9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5"/>
          <p:cNvSpPr/>
          <p:nvPr/>
        </p:nvSpPr>
        <p:spPr>
          <a:xfrm>
            <a:off x="3840480" y="-731520"/>
            <a:ext cx="4480560" cy="4480560"/>
          </a:xfrm>
          <a:prstGeom prst="ellipse">
            <a:avLst/>
          </a:prstGeom>
          <a:solidFill>
            <a:srgbClr val="00E5CC">
              <a:alpha val="5098"/>
            </a:srgbClr>
          </a:solidFill>
          <a:ln cap="flat" cmpd="sng" w="12700">
            <a:solidFill>
              <a:srgbClr val="00E5CC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5"/>
          <p:cNvSpPr/>
          <p:nvPr/>
        </p:nvSpPr>
        <p:spPr>
          <a:xfrm>
            <a:off x="457200" y="914400"/>
            <a:ext cx="112471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5"/>
          <p:cNvSpPr/>
          <p:nvPr/>
        </p:nvSpPr>
        <p:spPr>
          <a:xfrm>
            <a:off x="457200" y="2194560"/>
            <a:ext cx="11247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Questions &amp; Discussion Welcome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5"/>
          <p:cNvSpPr/>
          <p:nvPr/>
        </p:nvSpPr>
        <p:spPr>
          <a:xfrm>
            <a:off x="3840480" y="2834640"/>
            <a:ext cx="4480560" cy="36576"/>
          </a:xfrm>
          <a:prstGeom prst="rect">
            <a:avLst/>
          </a:prstGeom>
          <a:solidFill>
            <a:srgbClr val="00C9FF"/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5"/>
          <p:cNvSpPr/>
          <p:nvPr/>
        </p:nvSpPr>
        <p:spPr>
          <a:xfrm>
            <a:off x="457200" y="3063240"/>
            <a:ext cx="112471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Alva Rachel Wilfred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0BDD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0BDD8"/>
                </a:solidFill>
                <a:latin typeface="Calibri"/>
                <a:ea typeface="Calibri"/>
                <a:cs typeface="Calibri"/>
                <a:sym typeface="Calibri"/>
              </a:rPr>
              <a:t>USN: 4SO22AI009  •  St Joseph Engineering College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AI Data Analyst Intern  •  Rooman Technologies Pvt. Ltd.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832104" y="4160520"/>
            <a:ext cx="2011680" cy="320040"/>
          </a:xfrm>
          <a:prstGeom prst="rect">
            <a:avLst/>
          </a:prstGeom>
          <a:solidFill>
            <a:srgbClr val="00C9FF">
              <a:alpha val="14901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5"/>
          <p:cNvSpPr/>
          <p:nvPr/>
        </p:nvSpPr>
        <p:spPr>
          <a:xfrm>
            <a:off x="832104" y="4160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K-Means Clustering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/>
          <p:nvPr/>
        </p:nvSpPr>
        <p:spPr>
          <a:xfrm>
            <a:off x="2953512" y="4160520"/>
            <a:ext cx="2011680" cy="320040"/>
          </a:xfrm>
          <a:prstGeom prst="rect">
            <a:avLst/>
          </a:prstGeom>
          <a:solidFill>
            <a:srgbClr val="00C9FF">
              <a:alpha val="14901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2953512" y="4160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Customer Segmentation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5074920" y="4160520"/>
            <a:ext cx="2011680" cy="320040"/>
          </a:xfrm>
          <a:prstGeom prst="rect">
            <a:avLst/>
          </a:prstGeom>
          <a:solidFill>
            <a:srgbClr val="00C9FF">
              <a:alpha val="14901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5"/>
          <p:cNvSpPr/>
          <p:nvPr/>
        </p:nvSpPr>
        <p:spPr>
          <a:xfrm>
            <a:off x="5074920" y="4160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5"/>
          <p:cNvSpPr/>
          <p:nvPr/>
        </p:nvSpPr>
        <p:spPr>
          <a:xfrm>
            <a:off x="7196328" y="4160520"/>
            <a:ext cx="2011680" cy="320040"/>
          </a:xfrm>
          <a:prstGeom prst="rect">
            <a:avLst/>
          </a:prstGeom>
          <a:solidFill>
            <a:srgbClr val="00C9FF">
              <a:alpha val="14901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15"/>
          <p:cNvSpPr/>
          <p:nvPr/>
        </p:nvSpPr>
        <p:spPr>
          <a:xfrm>
            <a:off x="7196328" y="4160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9317736" y="4160520"/>
            <a:ext cx="2011680" cy="320040"/>
          </a:xfrm>
          <a:prstGeom prst="rect">
            <a:avLst/>
          </a:prstGeom>
          <a:solidFill>
            <a:srgbClr val="00C9FF">
              <a:alpha val="14901"/>
            </a:srgbClr>
          </a:solidFill>
          <a:ln cap="flat" cmpd="sng" w="12700">
            <a:solidFill>
              <a:srgbClr val="00C9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9317736" y="4160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FF"/>
                </a:solidFill>
                <a:latin typeface="Calibri"/>
                <a:ea typeface="Calibri"/>
                <a:cs typeface="Calibri"/>
                <a:sym typeface="Calibri"/>
              </a:rPr>
              <a:t>Machine Learning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2026-05-07T06:22:03Z</dcterms:created>
  <dc:creator>Alva Rachel Wilfred</dc:creator>
</cp:coreProperties>
</file>